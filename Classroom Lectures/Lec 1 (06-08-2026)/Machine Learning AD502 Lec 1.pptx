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312" r:id="rId4"/>
    <p:sldId id="313" r:id="rId5"/>
    <p:sldId id="311" r:id="rId6"/>
    <p:sldId id="259" r:id="rId7"/>
    <p:sldId id="314" r:id="rId8"/>
    <p:sldId id="315" r:id="rId9"/>
    <p:sldId id="316" r:id="rId10"/>
    <p:sldId id="317" r:id="rId11"/>
    <p:sldId id="318" r:id="rId12"/>
    <p:sldId id="280" r:id="rId13"/>
    <p:sldId id="319" r:id="rId14"/>
    <p:sldId id="320" r:id="rId15"/>
    <p:sldId id="321" r:id="rId16"/>
    <p:sldId id="281" r:id="rId17"/>
    <p:sldId id="282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30" r:id="rId26"/>
    <p:sldId id="329" r:id="rId27"/>
    <p:sldId id="331" r:id="rId28"/>
    <p:sldId id="332" r:id="rId29"/>
  </p:sldIdLst>
  <p:sldSz cx="5765800" cy="3600450"/>
  <p:notesSz cx="5765800" cy="36004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08" autoAdjust="0"/>
  </p:normalViewPr>
  <p:slideViewPr>
    <p:cSldViewPr>
      <p:cViewPr>
        <p:scale>
          <a:sx n="190" d="100"/>
          <a:sy n="190" d="100"/>
        </p:scale>
        <p:origin x="-58" y="16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4661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79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79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88182-CAA9-432B-8DD4-2E048D5675C8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69875"/>
            <a:ext cx="2162175" cy="13509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709738"/>
            <a:ext cx="4613275" cy="1620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419475"/>
            <a:ext cx="2498725" cy="180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419475"/>
            <a:ext cx="2498725" cy="180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FE457-084B-423E-A8FC-48DBB8463C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FE457-084B-423E-A8FC-48DBB8463C0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23094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2016252"/>
            <a:ext cx="4036060" cy="900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Optimization</a:t>
            </a:r>
            <a:r>
              <a:rPr spc="55" dirty="0"/>
              <a:t> </a:t>
            </a:r>
            <a:r>
              <a:rPr dirty="0"/>
              <a:t>Algorithms</a:t>
            </a:r>
            <a:r>
              <a:rPr spc="6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Optimization</a:t>
            </a:r>
            <a:r>
              <a:rPr spc="55" dirty="0"/>
              <a:t> </a:t>
            </a:r>
            <a:r>
              <a:rPr dirty="0"/>
              <a:t>Algorithms</a:t>
            </a:r>
            <a:r>
              <a:rPr spc="6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828103"/>
            <a:ext cx="2508123" cy="2376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828103"/>
            <a:ext cx="2508123" cy="2376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Optimization</a:t>
            </a:r>
            <a:r>
              <a:rPr spc="55" dirty="0"/>
              <a:t> </a:t>
            </a:r>
            <a:r>
              <a:rPr dirty="0"/>
              <a:t>Algorithms</a:t>
            </a:r>
            <a:r>
              <a:rPr spc="6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Optimization</a:t>
            </a:r>
            <a:r>
              <a:rPr spc="55" dirty="0"/>
              <a:t> </a:t>
            </a:r>
            <a:r>
              <a:rPr dirty="0"/>
              <a:t>Algorithms</a:t>
            </a:r>
            <a:r>
              <a:rPr spc="6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40558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4016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4016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395267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40161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40796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40161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3952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FD6D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39526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40161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43336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EFD6D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39526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42574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39925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395267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Optimization</a:t>
            </a:r>
            <a:r>
              <a:rPr spc="55" dirty="0"/>
              <a:t> </a:t>
            </a:r>
            <a:r>
              <a:rPr dirty="0"/>
              <a:t>Algorithms</a:t>
            </a:r>
            <a:r>
              <a:rPr spc="6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40558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4016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40161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395267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40161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40796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40161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39526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FD6D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39526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40161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F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43336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EFD6D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39526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42574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39925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395267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E0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B2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71094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227129"/>
            <a:ext cx="5078730" cy="1012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Optimization</a:t>
            </a:r>
            <a:r>
              <a:rPr spc="55" dirty="0"/>
              <a:t> </a:t>
            </a:r>
            <a:r>
              <a:rPr dirty="0"/>
              <a:t>Algorithms</a:t>
            </a:r>
            <a:r>
              <a:rPr spc="6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348418"/>
            <a:ext cx="1326134" cy="1800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5782" y="3495789"/>
            <a:ext cx="27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jesh101191/Machine-Learning-PIEMR-2026-AD50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eachablemachine.withgoogle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quickdraw.withgoogle.com/" TargetMode="External"/><Relationship Id="rId4" Type="http://schemas.openxmlformats.org/officeDocument/2006/relationships/hyperlink" Target="https://playground.tensorflow.org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l-playground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77239"/>
            <a:ext cx="5635625" cy="737870"/>
            <a:chOff x="87743" y="777239"/>
            <a:chExt cx="5635625" cy="737870"/>
          </a:xfrm>
        </p:grpSpPr>
        <p:sp>
          <p:nvSpPr>
            <p:cNvPr id="3" name="object 3"/>
            <p:cNvSpPr/>
            <p:nvPr/>
          </p:nvSpPr>
          <p:spPr>
            <a:xfrm>
              <a:off x="87743" y="777239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40497"/>
              <a:ext cx="5584825" cy="674370"/>
            </a:xfrm>
            <a:custGeom>
              <a:avLst/>
              <a:gdLst/>
              <a:ahLst/>
              <a:cxnLst/>
              <a:rect l="l" t="t" r="r" b="b"/>
              <a:pathLst>
                <a:path w="5584825" h="674369">
                  <a:moveTo>
                    <a:pt x="5584580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5584580" y="674283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21660"/>
              <a:ext cx="5584825" cy="642620"/>
            </a:xfrm>
            <a:custGeom>
              <a:avLst/>
              <a:gdLst/>
              <a:ahLst/>
              <a:cxnLst/>
              <a:rect l="l" t="t" r="r" b="b"/>
              <a:pathLst>
                <a:path w="5584825" h="642619">
                  <a:moveTo>
                    <a:pt x="5584580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5533779" y="642319"/>
                  </a:lnTo>
                  <a:lnTo>
                    <a:pt x="5553504" y="638310"/>
                  </a:lnTo>
                  <a:lnTo>
                    <a:pt x="5569657" y="627396"/>
                  </a:lnTo>
                  <a:lnTo>
                    <a:pt x="5580571" y="611243"/>
                  </a:lnTo>
                  <a:lnTo>
                    <a:pt x="5584580" y="59151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40497"/>
            <a:ext cx="5584825" cy="5392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lang="en-US" sz="1400" spc="-25" dirty="0" smtClean="0">
                <a:solidFill>
                  <a:srgbClr val="CC0000"/>
                </a:solidFill>
                <a:latin typeface="Tahoma"/>
                <a:cs typeface="Tahoma"/>
              </a:rPr>
              <a:t>AD-502-Machine Learning</a:t>
            </a:r>
          </a:p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sz="1400" spc="-25" dirty="0" smtClean="0">
                <a:solidFill>
                  <a:srgbClr val="CC0000"/>
                </a:solidFill>
                <a:latin typeface="Tahoma"/>
                <a:cs typeface="Tahoma"/>
              </a:rPr>
              <a:t>Lecture</a:t>
            </a:r>
            <a:r>
              <a:rPr sz="1400" spc="20" dirty="0" smtClean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lang="en-US" sz="1400" spc="20" dirty="0" smtClean="0">
                <a:solidFill>
                  <a:srgbClr val="CC0000"/>
                </a:solidFill>
                <a:latin typeface="Tahoma"/>
                <a:cs typeface="Tahoma"/>
              </a:rPr>
              <a:t>1 </a:t>
            </a:r>
            <a:r>
              <a:rPr sz="1400" spc="-20" dirty="0" smtClean="0">
                <a:solidFill>
                  <a:srgbClr val="CC0000"/>
                </a:solidFill>
                <a:latin typeface="Tahoma"/>
                <a:cs typeface="Tahoma"/>
              </a:rPr>
              <a:t>:</a:t>
            </a:r>
            <a:r>
              <a:rPr lang="en-US" sz="1400" spc="-20" dirty="0" smtClean="0">
                <a:solidFill>
                  <a:srgbClr val="CC0000"/>
                </a:solidFill>
                <a:latin typeface="Tahoma"/>
                <a:cs typeface="Tahoma"/>
              </a:rPr>
              <a:t> Introduction to Machine Learning 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1300" y="1724025"/>
            <a:ext cx="28194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Dr. Rajesh Kumar</a:t>
            </a:r>
          </a:p>
          <a:p>
            <a:pPr algn="ctr"/>
            <a:r>
              <a:rPr lang="en-US" sz="1100" dirty="0" smtClean="0"/>
              <a:t>Asst. Professor</a:t>
            </a:r>
          </a:p>
          <a:p>
            <a:pPr algn="ctr"/>
            <a:r>
              <a:rPr lang="en-US" sz="1100" dirty="0" smtClean="0"/>
              <a:t>Department of AI &amp; DS/ EE</a:t>
            </a:r>
          </a:p>
          <a:p>
            <a:pPr algn="ctr"/>
            <a:r>
              <a:rPr lang="en-US" sz="1100" dirty="0" smtClean="0"/>
              <a:t>Prestige Institute of Engineering Management &amp; Research , Indore</a:t>
            </a:r>
            <a:endParaRPr lang="en-US" sz="11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732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25" dirty="0" smtClean="0"/>
              <a:t>Course Information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15900" y="581025"/>
            <a:ext cx="5228590" cy="233717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endParaRPr lang="en-US" sz="1000" dirty="0"/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 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118601" y="3495789"/>
            <a:ext cx="167869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2100" y="733425"/>
          <a:ext cx="5257800" cy="2057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6628"/>
                <a:gridCol w="2901172"/>
              </a:tblGrid>
              <a:tr h="376594">
                <a:tc>
                  <a:txBody>
                    <a:bodyPr/>
                    <a:lstStyle/>
                    <a:p>
                      <a:r>
                        <a:rPr lang="en-US" sz="1200" b="0" i="0" spc="-25" dirty="0" smtClean="0">
                          <a:solidFill>
                            <a:schemeClr val="bg1"/>
                          </a:solidFill>
                          <a:latin typeface="Tahoma"/>
                          <a:ea typeface="+mj-ea"/>
                          <a:cs typeface="Tahoma"/>
                        </a:rPr>
                        <a:t>Course</a:t>
                      </a:r>
                      <a:r>
                        <a:rPr lang="en-US" sz="1200" b="0" i="0" spc="-25" baseline="0" dirty="0" smtClean="0">
                          <a:solidFill>
                            <a:schemeClr val="bg1"/>
                          </a:solidFill>
                          <a:latin typeface="Tahoma"/>
                          <a:ea typeface="+mj-ea"/>
                          <a:cs typeface="Tahoma"/>
                        </a:rPr>
                        <a:t> Code</a:t>
                      </a:r>
                      <a:endParaRPr lang="en-US" sz="1200" b="0" i="0" spc="-25" dirty="0" smtClean="0">
                        <a:solidFill>
                          <a:schemeClr val="bg1"/>
                        </a:solidFill>
                        <a:latin typeface="Tahoma"/>
                        <a:ea typeface="+mj-ea"/>
                        <a:cs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AD502</a:t>
                      </a:r>
                      <a:endParaRPr lang="en-US" sz="1200" dirty="0"/>
                    </a:p>
                  </a:txBody>
                  <a:tcPr/>
                </a:tc>
              </a:tr>
              <a:tr h="376594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Course Title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Machine Learning</a:t>
                      </a:r>
                      <a:endParaRPr lang="en-US" sz="1200" dirty="0"/>
                    </a:p>
                  </a:txBody>
                  <a:tcPr/>
                </a:tc>
              </a:tr>
              <a:tr h="376594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Credits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(3-0-2) [L-T-P]</a:t>
                      </a:r>
                      <a:endParaRPr lang="en-US" sz="1200" dirty="0"/>
                    </a:p>
                  </a:txBody>
                  <a:tcPr/>
                </a:tc>
              </a:tr>
              <a:tr h="47041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Evaluation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70 [End </a:t>
                      </a:r>
                      <a:r>
                        <a:rPr lang="en-US" sz="1200" dirty="0" err="1" smtClean="0"/>
                        <a:t>Sem</a:t>
                      </a:r>
                      <a:r>
                        <a:rPr lang="en-US" sz="1200" dirty="0" smtClean="0"/>
                        <a:t>]+20 [Mid </a:t>
                      </a:r>
                      <a:r>
                        <a:rPr lang="en-US" sz="1200" dirty="0" err="1" smtClean="0"/>
                        <a:t>sem</a:t>
                      </a:r>
                      <a:r>
                        <a:rPr lang="en-US" sz="1200" dirty="0" smtClean="0"/>
                        <a:t>]</a:t>
                      </a:r>
                      <a:r>
                        <a:rPr lang="en-US" sz="1200" baseline="0" dirty="0" smtClean="0"/>
                        <a:t> + 10 [Assignment/Quiz] =100</a:t>
                      </a:r>
                      <a:endParaRPr lang="en-US" sz="1200" dirty="0"/>
                    </a:p>
                  </a:txBody>
                  <a:tcPr/>
                </a:tc>
              </a:tr>
              <a:tr h="376594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2"/>
                        </a:rPr>
                        <a:t>https://github.com/rajesh101191/Machine-Learning-PIEMR-2026-AD502</a:t>
                      </a:r>
                      <a:r>
                        <a:rPr lang="en-US" sz="1200" dirty="0" smtClean="0"/>
                        <a:t> 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732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25" dirty="0" smtClean="0"/>
              <a:t>Course Objective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15900" y="581025"/>
            <a:ext cx="5228590" cy="233717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endParaRPr lang="en-US" sz="1000" dirty="0"/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  <p:grpSp>
        <p:nvGrpSpPr>
          <p:cNvPr id="3" name="object 8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 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118601" y="3495789"/>
            <a:ext cx="167869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7" name="object 7"/>
          <p:cNvSpPr txBox="1"/>
          <p:nvPr/>
        </p:nvSpPr>
        <p:spPr>
          <a:xfrm>
            <a:off x="292100" y="428625"/>
            <a:ext cx="5228590" cy="4532651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endParaRPr lang="en-US" sz="1100" dirty="0" smtClean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r>
              <a:rPr lang="en-US" sz="1000" dirty="0" smtClean="0"/>
              <a:t>Understand the fundamental concepts, principles, and applications of Machine Learning.</a:t>
            </a: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endParaRPr lang="en-US" sz="1000" dirty="0" smtClean="0"/>
          </a:p>
          <a:p>
            <a:pPr>
              <a:buFont typeface="Arial" pitchFamily="34" charset="0"/>
              <a:buChar char="•"/>
            </a:pPr>
            <a:r>
              <a:rPr lang="en-US" sz="1000" dirty="0" smtClean="0"/>
              <a:t> Explore the complete Machine Learning lifecycle, including data collection, preprocessing, model development, evaluation, and deployment.</a:t>
            </a:r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r>
              <a:rPr lang="en-US" sz="1000" dirty="0" smtClean="0"/>
              <a:t>Apply supervised, unsupervised, and ensemble learning algorithms to solve real-world problems.</a:t>
            </a:r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r>
              <a:rPr lang="en-US" sz="1000" dirty="0" smtClean="0"/>
              <a:t>Develop practical skills in implementing machine learning models using Python and </a:t>
            </a:r>
            <a:r>
              <a:rPr lang="en-US" sz="1000" dirty="0" err="1" smtClean="0"/>
              <a:t>Scikit</a:t>
            </a:r>
            <a:r>
              <a:rPr lang="en-US" sz="1000" dirty="0" smtClean="0"/>
              <a:t>-learn.</a:t>
            </a:r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r>
              <a:rPr lang="en-US" sz="1000" dirty="0" smtClean="0"/>
              <a:t>Evaluate, compare, and interpret machine learning models using appropriate performance metrics and best practices.</a:t>
            </a:r>
            <a:endParaRPr lang="en-US" sz="1000" dirty="0"/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732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25" dirty="0" smtClean="0"/>
              <a:t>Course Flow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15900" y="581025"/>
            <a:ext cx="5228590" cy="233717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endParaRPr lang="en-US" sz="1000" dirty="0"/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  <p:grpSp>
        <p:nvGrpSpPr>
          <p:cNvPr id="3" name="object 8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 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118601" y="3495789"/>
            <a:ext cx="167869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pic>
        <p:nvPicPr>
          <p:cNvPr id="16" name="Picture 15" descr="ChatGPT Image Aug 5, 2026, 07_25_14 A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212" y="378592"/>
            <a:ext cx="5504688" cy="3021834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95948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25" dirty="0" smtClean="0"/>
              <a:t>References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15900" y="504825"/>
            <a:ext cx="5228590" cy="484042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lang="en-US" sz="1100" spc="-45" dirty="0" smtClean="0">
                <a:latin typeface="Tahoma"/>
                <a:cs typeface="Tahoma"/>
              </a:rPr>
              <a:t>Content is referred from</a:t>
            </a:r>
            <a:endParaRPr lang="en-US" sz="1100" dirty="0" smtClean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r>
              <a:rPr lang="en-US" sz="1000" dirty="0" smtClean="0"/>
              <a:t>Mitchell, T. M. (1997). </a:t>
            </a:r>
            <a:r>
              <a:rPr lang="en-US" sz="1000" i="1" dirty="0" smtClean="0"/>
              <a:t>Machine Learning</a:t>
            </a:r>
            <a:r>
              <a:rPr lang="en-US" sz="1000" dirty="0" smtClean="0"/>
              <a:t>. New York: McGraw-Hill. ISBN: 0-07-042807-7</a:t>
            </a: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endParaRPr lang="en-US" sz="1000" dirty="0" smtClean="0"/>
          </a:p>
          <a:p>
            <a:pPr>
              <a:buFont typeface="Arial" pitchFamily="34" charset="0"/>
              <a:buChar char="•"/>
            </a:pPr>
            <a:r>
              <a:rPr lang="en-US" sz="1000" dirty="0" smtClean="0"/>
              <a:t> Ng, A. Y. (2009). </a:t>
            </a:r>
            <a:r>
              <a:rPr lang="en-US" sz="1000" i="1" dirty="0" smtClean="0"/>
              <a:t>CS229: Machine Learning</a:t>
            </a:r>
            <a:r>
              <a:rPr lang="en-US" sz="1000" dirty="0" smtClean="0"/>
              <a:t>. Stanford University, Department of Computer Science.</a:t>
            </a:r>
          </a:p>
          <a:p>
            <a:endParaRPr lang="en-US" sz="1000" dirty="0"/>
          </a:p>
          <a:p>
            <a:pPr>
              <a:buFont typeface="Arial" pitchFamily="34" charset="0"/>
              <a:buChar char="•"/>
            </a:pPr>
            <a:r>
              <a:rPr lang="en-US" sz="1000" dirty="0" err="1" smtClean="0"/>
              <a:t>Ravindran</a:t>
            </a:r>
            <a:r>
              <a:rPr lang="en-US" sz="1000" dirty="0" smtClean="0"/>
              <a:t>, B. (2026). </a:t>
            </a:r>
            <a:r>
              <a:rPr lang="en-US" sz="1000" i="1" dirty="0" smtClean="0"/>
              <a:t>Introduction to Machine Learning</a:t>
            </a:r>
            <a:r>
              <a:rPr lang="en-US" sz="1000" dirty="0" smtClean="0"/>
              <a:t>. NPTEL Online Certification Course, Department of Computer Science and Engineering, Indian Institute of Technology Madras.</a:t>
            </a:r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r>
              <a:rPr lang="en-US" sz="1000" dirty="0" err="1" smtClean="0"/>
              <a:t>Nwanganga</a:t>
            </a:r>
            <a:r>
              <a:rPr lang="en-US" sz="1000" dirty="0" smtClean="0"/>
              <a:t>, F., </a:t>
            </a:r>
            <a:r>
              <a:rPr lang="en-US" sz="1000" i="1" dirty="0" smtClean="0"/>
              <a:t>Machine Learning with Python: Foundations</a:t>
            </a:r>
            <a:r>
              <a:rPr lang="en-US" sz="1000" dirty="0" smtClean="0"/>
              <a:t>, LinkedIn Learning.</a:t>
            </a:r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r>
              <a:rPr lang="en-US" sz="1000" dirty="0" smtClean="0"/>
              <a:t>Williams, K., </a:t>
            </a:r>
            <a:r>
              <a:rPr lang="en-US" sz="1000" i="1" dirty="0" smtClean="0"/>
              <a:t>Artificial Intelligence Foundations: Machine Learning</a:t>
            </a:r>
            <a:r>
              <a:rPr lang="en-US" sz="1000" dirty="0" smtClean="0"/>
              <a:t>, LinkedIn Learning.</a:t>
            </a:r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r>
              <a:rPr lang="en-US" sz="1000" dirty="0" smtClean="0"/>
              <a:t>Anaconda Inc., </a:t>
            </a:r>
            <a:r>
              <a:rPr lang="en-US" sz="1000" i="1" dirty="0" smtClean="0"/>
              <a:t>Machine Learning with Python Professional Certificate</a:t>
            </a:r>
            <a:r>
              <a:rPr lang="en-US" sz="1000" dirty="0" smtClean="0"/>
              <a:t>, LinkedIn Learning.</a:t>
            </a:r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  <p:grpSp>
        <p:nvGrpSpPr>
          <p:cNvPr id="3" name="object 8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700" y="1343025"/>
            <a:ext cx="29718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is machine?</a:t>
            </a:r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700" y="1343025"/>
            <a:ext cx="29718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is machine?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349500" y="2028825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2100" y="2486025"/>
            <a:ext cx="28829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A </a:t>
            </a:r>
            <a:r>
              <a:rPr lang="en-US" sz="1200" b="1" dirty="0" smtClean="0"/>
              <a:t>machine is a system that takes some input, performs a process, and produces a useful output.</a:t>
            </a:r>
            <a:endParaRPr lang="en-US" sz="12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700" y="1343025"/>
            <a:ext cx="29718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is machine?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349500" y="2028825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2100" y="2486025"/>
            <a:ext cx="28829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A </a:t>
            </a:r>
            <a:r>
              <a:rPr lang="en-US" sz="1200" b="1" dirty="0" smtClean="0"/>
              <a:t>machine is a system that takes some input, performs a process, and produces a useful output.</a:t>
            </a:r>
            <a:endParaRPr lang="en-US" sz="12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340100" y="2028825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416300" y="2486025"/>
            <a:ext cx="2425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 computer is also a machine. It takes data as input, processes it using instructions, and produces information as output.</a:t>
            </a:r>
            <a:endParaRPr lang="en-US" sz="12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700" y="1343025"/>
            <a:ext cx="29718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is Learning?</a:t>
            </a:r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700" y="1343025"/>
            <a:ext cx="29718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is Machine Learning?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92100" y="2486025"/>
            <a:ext cx="28829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Arthur Samuel (1995), Field of study that gives computer the ability to learn without being explicitly programmed. </a:t>
            </a:r>
            <a:endParaRPr lang="en-US" sz="1200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349500" y="2028825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700" y="1343025"/>
            <a:ext cx="2971800" cy="609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is Machine Learning?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92100" y="2486025"/>
            <a:ext cx="28829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Arthur Samuel (1995), Field of study that gives computer the ability to learn without being explicitly programmed. </a:t>
            </a:r>
            <a:endParaRPr lang="en-US" sz="1200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349500" y="2028825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340100" y="2028825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416300" y="2486025"/>
            <a:ext cx="2133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 smtClean="0"/>
              <a:t>Tom Mitchell, A Computer Program is said to learn from experience E with respect to some task T, some performance measure P, if its performance on T, as measured by P, improves with experience E. </a:t>
            </a:r>
            <a:endParaRPr lang="en-US" sz="105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4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75489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grpSp>
        <p:nvGrpSpPr>
          <p:cNvPr id="14" name="Group 3"/>
          <p:cNvGrpSpPr/>
          <p:nvPr/>
        </p:nvGrpSpPr>
        <p:grpSpPr>
          <a:xfrm>
            <a:off x="1206500" y="504825"/>
            <a:ext cx="2590800" cy="2889191"/>
            <a:chOff x="-30151508" y="-5208731"/>
            <a:chExt cx="38386767" cy="40570546"/>
          </a:xfrm>
        </p:grpSpPr>
        <p:sp>
          <p:nvSpPr>
            <p:cNvPr id="15" name="Freeform 4"/>
            <p:cNvSpPr/>
            <p:nvPr/>
          </p:nvSpPr>
          <p:spPr>
            <a:xfrm>
              <a:off x="-30151508" y="-5208731"/>
              <a:ext cx="38386767" cy="40570546"/>
            </a:xfrm>
            <a:custGeom>
              <a:avLst/>
              <a:gdLst/>
              <a:ahLst/>
              <a:cxnLst/>
              <a:rect l="l" t="t" r="r" b="b"/>
              <a:pathLst>
                <a:path w="68893891" h="60680203">
                  <a:moveTo>
                    <a:pt x="13224" y="0"/>
                  </a:moveTo>
                  <a:lnTo>
                    <a:pt x="68880670" y="0"/>
                  </a:lnTo>
                  <a:cubicBezTo>
                    <a:pt x="68887969" y="0"/>
                    <a:pt x="68893891" y="5921"/>
                    <a:pt x="68893891" y="13224"/>
                  </a:cubicBezTo>
                  <a:lnTo>
                    <a:pt x="68893891" y="60666982"/>
                  </a:lnTo>
                  <a:cubicBezTo>
                    <a:pt x="68893891" y="60674281"/>
                    <a:pt x="68887969" y="60680203"/>
                    <a:pt x="68880670" y="60680203"/>
                  </a:cubicBezTo>
                  <a:lnTo>
                    <a:pt x="13224" y="60680203"/>
                  </a:lnTo>
                  <a:cubicBezTo>
                    <a:pt x="5921" y="60680203"/>
                    <a:pt x="0" y="60674281"/>
                    <a:pt x="0" y="60666982"/>
                  </a:cubicBezTo>
                  <a:lnTo>
                    <a:pt x="0" y="13224"/>
                  </a:lnTo>
                  <a:cubicBezTo>
                    <a:pt x="0" y="5921"/>
                    <a:pt x="5921" y="0"/>
                    <a:pt x="13224" y="0"/>
                  </a:cubicBezTo>
                  <a:close/>
                </a:path>
              </a:pathLst>
            </a:custGeom>
            <a:blipFill>
              <a:blip r:embed="rId2" cstate="print"/>
              <a:stretch>
                <a:fillRect t="-3578" b="-9957"/>
              </a:stretch>
            </a:blipFill>
          </p:spPr>
        </p:sp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75489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6" name="Freeform 3"/>
          <p:cNvSpPr/>
          <p:nvPr/>
        </p:nvSpPr>
        <p:spPr>
          <a:xfrm>
            <a:off x="444500" y="352425"/>
            <a:ext cx="4572000" cy="2971799"/>
          </a:xfrm>
          <a:custGeom>
            <a:avLst/>
            <a:gdLst/>
            <a:ahLst/>
            <a:cxnLst/>
            <a:rect l="l" t="t" r="r" b="b"/>
            <a:pathLst>
              <a:path w="12870797" h="8529022">
                <a:moveTo>
                  <a:pt x="0" y="0"/>
                </a:moveTo>
                <a:lnTo>
                  <a:pt x="12870797" y="0"/>
                </a:lnTo>
                <a:lnTo>
                  <a:pt x="12870797" y="8529022"/>
                </a:lnTo>
                <a:lnTo>
                  <a:pt x="0" y="852902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l="-2836" t="-2505" r="-1543" b="-2505"/>
            </a:stretch>
          </a:blipFill>
        </p:spPr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75489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4" name="Freeform 5"/>
          <p:cNvSpPr/>
          <p:nvPr/>
        </p:nvSpPr>
        <p:spPr>
          <a:xfrm>
            <a:off x="368300" y="428625"/>
            <a:ext cx="5029200" cy="2819400"/>
          </a:xfrm>
          <a:custGeom>
            <a:avLst/>
            <a:gdLst/>
            <a:ahLst/>
            <a:cxnLst/>
            <a:rect l="l" t="t" r="r" b="b"/>
            <a:pathLst>
              <a:path w="13845728" h="8842570">
                <a:moveTo>
                  <a:pt x="0" y="0"/>
                </a:moveTo>
                <a:lnTo>
                  <a:pt x="13845728" y="0"/>
                </a:lnTo>
                <a:lnTo>
                  <a:pt x="13845728" y="8842570"/>
                </a:lnTo>
                <a:lnTo>
                  <a:pt x="0" y="884257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2193" b="-2193"/>
            </a:stretch>
          </a:blipFill>
        </p:spPr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75489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Freeform 5"/>
          <p:cNvSpPr/>
          <p:nvPr/>
        </p:nvSpPr>
        <p:spPr>
          <a:xfrm>
            <a:off x="0" y="428625"/>
            <a:ext cx="2806700" cy="2819400"/>
          </a:xfrm>
          <a:custGeom>
            <a:avLst/>
            <a:gdLst/>
            <a:ahLst/>
            <a:cxnLst/>
            <a:rect l="l" t="t" r="r" b="b"/>
            <a:pathLst>
              <a:path w="9715754" h="6379163">
                <a:moveTo>
                  <a:pt x="0" y="0"/>
                </a:moveTo>
                <a:lnTo>
                  <a:pt x="9715754" y="0"/>
                </a:lnTo>
                <a:lnTo>
                  <a:pt x="9715754" y="6379163"/>
                </a:lnTo>
                <a:lnTo>
                  <a:pt x="0" y="6379163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768" b="-768"/>
            </a:stretch>
          </a:blipFill>
        </p:spPr>
      </p:sp>
      <p:sp>
        <p:nvSpPr>
          <p:cNvPr id="16" name="Freeform 6"/>
          <p:cNvSpPr/>
          <p:nvPr/>
        </p:nvSpPr>
        <p:spPr>
          <a:xfrm>
            <a:off x="2730500" y="428625"/>
            <a:ext cx="3035300" cy="2819400"/>
          </a:xfrm>
          <a:custGeom>
            <a:avLst/>
            <a:gdLst/>
            <a:ahLst/>
            <a:cxnLst/>
            <a:rect l="l" t="t" r="r" b="b"/>
            <a:pathLst>
              <a:path w="8462985" h="6007138">
                <a:moveTo>
                  <a:pt x="0" y="0"/>
                </a:moveTo>
                <a:lnTo>
                  <a:pt x="8462985" y="0"/>
                </a:lnTo>
                <a:lnTo>
                  <a:pt x="8462985" y="6007138"/>
                </a:lnTo>
                <a:lnTo>
                  <a:pt x="0" y="60071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 l="-132" t="-5369" b="-9778"/>
            </a:stretch>
          </a:blipFill>
        </p:spPr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 smtClean="0"/>
              <a:t>Introduction</a:t>
            </a:r>
            <a:r>
              <a:rPr lang="en-US" spc="-35" dirty="0" smtClean="0"/>
              <a:t>: Demonstration 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" y="1266825"/>
            <a:ext cx="65265" cy="65265"/>
          </a:xfrm>
          <a:prstGeom prst="rect">
            <a:avLst/>
          </a:prstGeom>
        </p:spPr>
      </p:pic>
      <p:grpSp>
        <p:nvGrpSpPr>
          <p:cNvPr id="4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pic>
        <p:nvPicPr>
          <p:cNvPr id="1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" y="1876425"/>
            <a:ext cx="65265" cy="65265"/>
          </a:xfrm>
          <a:prstGeom prst="rect">
            <a:avLst/>
          </a:prstGeom>
        </p:spPr>
      </p:pic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402932" y="1227129"/>
            <a:ext cx="5078730" cy="307777"/>
          </a:xfrm>
        </p:spPr>
        <p:txBody>
          <a:bodyPr/>
          <a:lstStyle/>
          <a:p>
            <a:pPr algn="l"/>
            <a:r>
              <a:rPr lang="en-US" b="1" u="sng" dirty="0" smtClean="0">
                <a:solidFill>
                  <a:srgbClr val="222222"/>
                </a:solidFill>
                <a:latin typeface="Agrandir Medium"/>
                <a:ea typeface="Agrandir Medium"/>
                <a:cs typeface="Agrandir Medium"/>
                <a:sym typeface="Agrandir Medium"/>
                <a:hlinkClick r:id="rId3" tooltip="https://teachablemachine.withgoogle.com"/>
              </a:rPr>
              <a:t>Teachable Machine</a:t>
            </a:r>
          </a:p>
          <a:p>
            <a:endParaRPr lang="en-US" dirty="0"/>
          </a:p>
        </p:txBody>
      </p:sp>
      <p:sp>
        <p:nvSpPr>
          <p:cNvPr id="17" name="Text Placeholder 15"/>
          <p:cNvSpPr txBox="1">
            <a:spLocks/>
          </p:cNvSpPr>
          <p:nvPr/>
        </p:nvSpPr>
        <p:spPr>
          <a:xfrm>
            <a:off x="368300" y="1800225"/>
            <a:ext cx="507873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0" cap="none" spc="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grandir Medium"/>
                <a:ea typeface="Agrandir Medium"/>
                <a:cs typeface="Agrandir Medium"/>
                <a:sym typeface="Agrandir Medium"/>
                <a:hlinkClick r:id="rId4"/>
              </a:rPr>
              <a:t>https://playground.tensorflow.org/</a:t>
            </a:r>
            <a:endParaRPr kumimoji="0" lang="en-US" sz="1000" b="1" i="0" u="sng" strike="noStrike" kern="0" cap="none" spc="0" normalizeH="0" baseline="0" noProof="0" dirty="0" smtClean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grandir Medium"/>
              <a:ea typeface="Agrandir Medium"/>
              <a:cs typeface="Agrandir Medium"/>
              <a:sym typeface="Agrandir Medium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u="sng" dirty="0">
              <a:solidFill>
                <a:srgbClr val="222222"/>
              </a:solidFill>
              <a:latin typeface="Agrandir Medium"/>
              <a:ea typeface="Agrandir Medium"/>
              <a:cs typeface="Agrandir Medium"/>
              <a:sym typeface="Agrandir Medium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0" cap="none" spc="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grandir Medium"/>
                <a:ea typeface="Agrandir Medium"/>
                <a:cs typeface="Agrandir Medium"/>
                <a:sym typeface="Agrandir Medium"/>
              </a:rPr>
              <a:t> 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pic>
        <p:nvPicPr>
          <p:cNvPr id="19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" y="2333625"/>
            <a:ext cx="65265" cy="6526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92100" y="2257425"/>
            <a:ext cx="39624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hlinkClick r:id="rId5"/>
              </a:rPr>
              <a:t>https://quickdraw.withgoogle.com</a:t>
            </a:r>
            <a:r>
              <a:rPr lang="en-US" sz="1000" b="1" dirty="0" smtClean="0"/>
              <a:t> </a:t>
            </a:r>
            <a:endParaRPr lang="en-US" sz="1000" b="1" dirty="0"/>
          </a:p>
        </p:txBody>
      </p:sp>
      <p:sp>
        <p:nvSpPr>
          <p:cNvPr id="21" name="Freeform 14"/>
          <p:cNvSpPr/>
          <p:nvPr/>
        </p:nvSpPr>
        <p:spPr>
          <a:xfrm>
            <a:off x="4406900" y="352425"/>
            <a:ext cx="1358900" cy="352425"/>
          </a:xfrm>
          <a:custGeom>
            <a:avLst/>
            <a:gdLst/>
            <a:ahLst/>
            <a:cxnLst/>
            <a:rect l="l" t="t" r="r" b="b"/>
            <a:pathLst>
              <a:path w="3994884" h="1161973">
                <a:moveTo>
                  <a:pt x="0" y="0"/>
                </a:moveTo>
                <a:lnTo>
                  <a:pt x="3994884" y="0"/>
                </a:lnTo>
                <a:lnTo>
                  <a:pt x="3994884" y="1161973"/>
                </a:lnTo>
                <a:lnTo>
                  <a:pt x="0" y="116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/>
            </a:stretch>
          </a:blipFill>
        </p:spPr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</a:t>
            </a:r>
            <a:endParaRPr spc="-35" dirty="0"/>
          </a:p>
        </p:txBody>
      </p:sp>
      <p:grpSp>
        <p:nvGrpSpPr>
          <p:cNvPr id="4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grpSp>
        <p:nvGrpSpPr>
          <p:cNvPr id="15" name="Group 7"/>
          <p:cNvGrpSpPr/>
          <p:nvPr/>
        </p:nvGrpSpPr>
        <p:grpSpPr>
          <a:xfrm>
            <a:off x="368300" y="733425"/>
            <a:ext cx="1676400" cy="1676400"/>
            <a:chOff x="7978539" y="0"/>
            <a:chExt cx="27888055" cy="40928247"/>
          </a:xfrm>
        </p:grpSpPr>
        <p:sp>
          <p:nvSpPr>
            <p:cNvPr id="16" name="Freeform 8"/>
            <p:cNvSpPr/>
            <p:nvPr/>
          </p:nvSpPr>
          <p:spPr>
            <a:xfrm>
              <a:off x="7978539" y="0"/>
              <a:ext cx="27888055" cy="40928247"/>
            </a:xfrm>
            <a:custGeom>
              <a:avLst/>
              <a:gdLst/>
              <a:ahLst/>
              <a:cxnLst/>
              <a:rect l="l" t="t" r="r" b="b"/>
              <a:pathLst>
                <a:path w="35866595" h="40928246">
                  <a:moveTo>
                    <a:pt x="26806" y="0"/>
                  </a:moveTo>
                  <a:lnTo>
                    <a:pt x="35839791" y="0"/>
                  </a:lnTo>
                  <a:cubicBezTo>
                    <a:pt x="35854593" y="0"/>
                    <a:pt x="35866595" y="12001"/>
                    <a:pt x="35866595" y="26806"/>
                  </a:cubicBezTo>
                  <a:lnTo>
                    <a:pt x="35866595" y="40901441"/>
                  </a:lnTo>
                  <a:cubicBezTo>
                    <a:pt x="35866595" y="40916244"/>
                    <a:pt x="35854593" y="40928246"/>
                    <a:pt x="35839791" y="40928246"/>
                  </a:cubicBezTo>
                  <a:lnTo>
                    <a:pt x="26806" y="40928246"/>
                  </a:lnTo>
                  <a:cubicBezTo>
                    <a:pt x="19696" y="40928246"/>
                    <a:pt x="12878" y="40925421"/>
                    <a:pt x="7851" y="40920395"/>
                  </a:cubicBezTo>
                  <a:cubicBezTo>
                    <a:pt x="2824" y="40915369"/>
                    <a:pt x="0" y="40908551"/>
                    <a:pt x="0" y="40901441"/>
                  </a:cubicBezTo>
                  <a:lnTo>
                    <a:pt x="0" y="26806"/>
                  </a:lnTo>
                  <a:cubicBezTo>
                    <a:pt x="0" y="19696"/>
                    <a:pt x="2824" y="12878"/>
                    <a:pt x="7851" y="7851"/>
                  </a:cubicBezTo>
                  <a:cubicBezTo>
                    <a:pt x="12878" y="2824"/>
                    <a:pt x="19696" y="0"/>
                    <a:pt x="26806" y="0"/>
                  </a:cubicBezTo>
                  <a:close/>
                </a:path>
              </a:pathLst>
            </a:custGeom>
            <a:blipFill>
              <a:blip r:embed="rId3" cstate="print"/>
              <a:stretch>
                <a:fillRect l="-41289" r="-41289"/>
              </a:stretch>
            </a:blipFill>
          </p:spPr>
        </p:sp>
      </p:grpSp>
      <p:grpSp>
        <p:nvGrpSpPr>
          <p:cNvPr id="17" name="Group 9"/>
          <p:cNvGrpSpPr/>
          <p:nvPr/>
        </p:nvGrpSpPr>
        <p:grpSpPr>
          <a:xfrm>
            <a:off x="2120900" y="504825"/>
            <a:ext cx="1981200" cy="1828800"/>
            <a:chOff x="0" y="0"/>
            <a:chExt cx="35866594" cy="40928247"/>
          </a:xfrm>
        </p:grpSpPr>
        <p:sp>
          <p:nvSpPr>
            <p:cNvPr id="18" name="Freeform 10"/>
            <p:cNvSpPr/>
            <p:nvPr/>
          </p:nvSpPr>
          <p:spPr>
            <a:xfrm>
              <a:off x="0" y="0"/>
              <a:ext cx="35866595" cy="40928246"/>
            </a:xfrm>
            <a:custGeom>
              <a:avLst/>
              <a:gdLst/>
              <a:ahLst/>
              <a:cxnLst/>
              <a:rect l="l" t="t" r="r" b="b"/>
              <a:pathLst>
                <a:path w="35866595" h="40928246">
                  <a:moveTo>
                    <a:pt x="26806" y="0"/>
                  </a:moveTo>
                  <a:lnTo>
                    <a:pt x="35839791" y="0"/>
                  </a:lnTo>
                  <a:cubicBezTo>
                    <a:pt x="35854593" y="0"/>
                    <a:pt x="35866595" y="12001"/>
                    <a:pt x="35866595" y="26806"/>
                  </a:cubicBezTo>
                  <a:lnTo>
                    <a:pt x="35866595" y="40901441"/>
                  </a:lnTo>
                  <a:cubicBezTo>
                    <a:pt x="35866595" y="40916244"/>
                    <a:pt x="35854593" y="40928246"/>
                    <a:pt x="35839791" y="40928246"/>
                  </a:cubicBezTo>
                  <a:lnTo>
                    <a:pt x="26806" y="40928246"/>
                  </a:lnTo>
                  <a:cubicBezTo>
                    <a:pt x="19696" y="40928246"/>
                    <a:pt x="12878" y="40925421"/>
                    <a:pt x="7851" y="40920395"/>
                  </a:cubicBezTo>
                  <a:cubicBezTo>
                    <a:pt x="2824" y="40915369"/>
                    <a:pt x="0" y="40908551"/>
                    <a:pt x="0" y="40901441"/>
                  </a:cubicBezTo>
                  <a:lnTo>
                    <a:pt x="0" y="26806"/>
                  </a:lnTo>
                  <a:cubicBezTo>
                    <a:pt x="0" y="19696"/>
                    <a:pt x="2824" y="12878"/>
                    <a:pt x="7851" y="7851"/>
                  </a:cubicBezTo>
                  <a:cubicBezTo>
                    <a:pt x="12878" y="2824"/>
                    <a:pt x="19696" y="0"/>
                    <a:pt x="26806" y="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51433" r="-51433"/>
              </a:stretch>
            </a:blipFill>
          </p:spPr>
        </p:sp>
      </p:grpSp>
      <p:grpSp>
        <p:nvGrpSpPr>
          <p:cNvPr id="21" name="Group 11"/>
          <p:cNvGrpSpPr/>
          <p:nvPr/>
        </p:nvGrpSpPr>
        <p:grpSpPr>
          <a:xfrm>
            <a:off x="4191000" y="1038225"/>
            <a:ext cx="1574800" cy="1828800"/>
            <a:chOff x="0" y="0"/>
            <a:chExt cx="35866594" cy="40928247"/>
          </a:xfrm>
        </p:grpSpPr>
        <p:sp>
          <p:nvSpPr>
            <p:cNvPr id="22" name="Freeform 12"/>
            <p:cNvSpPr/>
            <p:nvPr/>
          </p:nvSpPr>
          <p:spPr>
            <a:xfrm>
              <a:off x="0" y="0"/>
              <a:ext cx="35866595" cy="40928246"/>
            </a:xfrm>
            <a:custGeom>
              <a:avLst/>
              <a:gdLst/>
              <a:ahLst/>
              <a:cxnLst/>
              <a:rect l="l" t="t" r="r" b="b"/>
              <a:pathLst>
                <a:path w="35866595" h="40928246">
                  <a:moveTo>
                    <a:pt x="26806" y="0"/>
                  </a:moveTo>
                  <a:lnTo>
                    <a:pt x="35839791" y="0"/>
                  </a:lnTo>
                  <a:cubicBezTo>
                    <a:pt x="35854593" y="0"/>
                    <a:pt x="35866595" y="12001"/>
                    <a:pt x="35866595" y="26806"/>
                  </a:cubicBezTo>
                  <a:lnTo>
                    <a:pt x="35866595" y="40901441"/>
                  </a:lnTo>
                  <a:cubicBezTo>
                    <a:pt x="35866595" y="40916244"/>
                    <a:pt x="35854593" y="40928246"/>
                    <a:pt x="35839791" y="40928246"/>
                  </a:cubicBezTo>
                  <a:lnTo>
                    <a:pt x="26806" y="40928246"/>
                  </a:lnTo>
                  <a:cubicBezTo>
                    <a:pt x="19696" y="40928246"/>
                    <a:pt x="12878" y="40925421"/>
                    <a:pt x="7851" y="40920395"/>
                  </a:cubicBezTo>
                  <a:cubicBezTo>
                    <a:pt x="2824" y="40915369"/>
                    <a:pt x="0" y="40908551"/>
                    <a:pt x="0" y="40901441"/>
                  </a:cubicBezTo>
                  <a:lnTo>
                    <a:pt x="0" y="26806"/>
                  </a:lnTo>
                  <a:cubicBezTo>
                    <a:pt x="0" y="19696"/>
                    <a:pt x="2824" y="12878"/>
                    <a:pt x="7851" y="7851"/>
                  </a:cubicBezTo>
                  <a:cubicBezTo>
                    <a:pt x="12878" y="2824"/>
                    <a:pt x="19696" y="0"/>
                    <a:pt x="26806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51433" r="-51433"/>
              </a:stretch>
            </a:blipFill>
          </p:spPr>
        </p:sp>
      </p:grpSp>
      <p:sp>
        <p:nvSpPr>
          <p:cNvPr id="25" name="TextBox 4"/>
          <p:cNvSpPr txBox="1"/>
          <p:nvPr/>
        </p:nvSpPr>
        <p:spPr>
          <a:xfrm>
            <a:off x="292100" y="2562225"/>
            <a:ext cx="2743200" cy="311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800" dirty="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Supervised Machine Learning</a:t>
            </a:r>
          </a:p>
        </p:txBody>
      </p:sp>
      <p:sp>
        <p:nvSpPr>
          <p:cNvPr id="26" name="TextBox 4"/>
          <p:cNvSpPr txBox="1"/>
          <p:nvPr/>
        </p:nvSpPr>
        <p:spPr>
          <a:xfrm>
            <a:off x="2197100" y="2257425"/>
            <a:ext cx="2743200" cy="311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800" dirty="0" smtClean="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800" dirty="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800" dirty="0" smtClean="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upervised </a:t>
            </a:r>
            <a:r>
              <a:rPr lang="en-US" sz="800" dirty="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4178300" y="2790825"/>
            <a:ext cx="2743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800" dirty="0" smtClean="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Reinforcement </a:t>
            </a:r>
            <a:r>
              <a:rPr lang="en-US" sz="800" dirty="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9" name="Freeform 4"/>
          <p:cNvSpPr/>
          <p:nvPr/>
        </p:nvSpPr>
        <p:spPr>
          <a:xfrm>
            <a:off x="368300" y="504825"/>
            <a:ext cx="4953000" cy="2743200"/>
          </a:xfrm>
          <a:custGeom>
            <a:avLst/>
            <a:gdLst/>
            <a:ahLst/>
            <a:cxnLst/>
            <a:rect l="l" t="t" r="r" b="b"/>
            <a:pathLst>
              <a:path w="12934378" h="7545777">
                <a:moveTo>
                  <a:pt x="0" y="0"/>
                </a:moveTo>
                <a:lnTo>
                  <a:pt x="12934378" y="0"/>
                </a:lnTo>
                <a:lnTo>
                  <a:pt x="12934378" y="7545777"/>
                </a:lnTo>
                <a:lnTo>
                  <a:pt x="0" y="754577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l="-364" t="-15695" r="-879"/>
            </a:stretch>
          </a:blipFill>
        </p:spPr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19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900" y="504825"/>
            <a:ext cx="1828800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700" y="885825"/>
            <a:ext cx="3048000" cy="257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900" y="504825"/>
            <a:ext cx="1828800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700" y="885825"/>
            <a:ext cx="3048000" cy="257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9" descr="WhatsApp Image 2024-10-07 at 21.03.51_2952982a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11500" y="1266825"/>
            <a:ext cx="2520259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900" y="504825"/>
            <a:ext cx="1828800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700" y="885825"/>
            <a:ext cx="3048000" cy="257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9" descr="WhatsApp Image 2024-10-07 at 21.03.51_2952982a.jpg"/>
          <p:cNvPicPr>
            <a:picLocks noChangeAspect="1"/>
          </p:cNvPicPr>
          <p:nvPr/>
        </p:nvPicPr>
        <p:blipFill>
          <a:blip r:embed="rId4" cstate="print"/>
          <a:srcRect t="23810"/>
          <a:stretch>
            <a:fillRect/>
          </a:stretch>
        </p:blipFill>
        <p:spPr bwMode="auto">
          <a:xfrm>
            <a:off x="3111500" y="428625"/>
            <a:ext cx="26543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Content Placeholder 4" descr="WhatsApp Image 2024-10-07 at 21.57.25_516eb289.jpg"/>
          <p:cNvPicPr>
            <a:picLocks noChangeAspect="1"/>
          </p:cNvPicPr>
          <p:nvPr/>
        </p:nvPicPr>
        <p:blipFill>
          <a:blip r:embed="rId5" cstate="print"/>
          <a:srcRect t="16893"/>
          <a:stretch>
            <a:fillRect/>
          </a:stretch>
        </p:blipFill>
        <p:spPr>
          <a:xfrm>
            <a:off x="3111500" y="1800225"/>
            <a:ext cx="2590800" cy="1524000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900" y="504825"/>
            <a:ext cx="1828800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700" y="885825"/>
            <a:ext cx="3048000" cy="257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Content Placeholder 4" descr="WhatsApp Image 2024-10-07 at 21.57.25_516eb289.jpg"/>
          <p:cNvPicPr>
            <a:picLocks noChangeAspect="1"/>
          </p:cNvPicPr>
          <p:nvPr/>
        </p:nvPicPr>
        <p:blipFill>
          <a:blip r:embed="rId4" cstate="print"/>
          <a:srcRect t="16893"/>
          <a:stretch>
            <a:fillRect/>
          </a:stretch>
        </p:blipFill>
        <p:spPr>
          <a:xfrm>
            <a:off x="3175000" y="504825"/>
            <a:ext cx="2590800" cy="1524000"/>
          </a:xfrm>
          <a:prstGeom prst="rect">
            <a:avLst/>
          </a:prstGeom>
        </p:spPr>
      </p:pic>
      <p:pic>
        <p:nvPicPr>
          <p:cNvPr id="17" name="Picture 6" descr="Drawing4 (8)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68700" y="2028825"/>
            <a:ext cx="1752600" cy="12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900" y="504825"/>
            <a:ext cx="1828800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700" y="885825"/>
            <a:ext cx="3048000" cy="257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Content Placeholder 5" descr="WhatsApp Image 2024-10-07 at 22.36.41_85c1938a.jpg"/>
          <p:cNvPicPr>
            <a:picLocks noChangeAspect="1"/>
          </p:cNvPicPr>
          <p:nvPr/>
        </p:nvPicPr>
        <p:blipFill>
          <a:blip r:embed="rId4" cstate="print"/>
          <a:srcRect l="5495" t="24004" r="11028"/>
          <a:stretch>
            <a:fillRect/>
          </a:stretch>
        </p:blipFill>
        <p:spPr>
          <a:xfrm>
            <a:off x="3111500" y="380892"/>
            <a:ext cx="2590800" cy="1495533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900" y="504825"/>
            <a:ext cx="1828800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700" y="885825"/>
            <a:ext cx="3048000" cy="257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Content Placeholder 5" descr="WhatsApp Image 2024-10-07 at 22.36.41_85c1938a.jpg"/>
          <p:cNvPicPr>
            <a:picLocks noChangeAspect="1"/>
          </p:cNvPicPr>
          <p:nvPr/>
        </p:nvPicPr>
        <p:blipFill>
          <a:blip r:embed="rId4" cstate="print"/>
          <a:srcRect l="5495" t="24004" r="11028"/>
          <a:stretch>
            <a:fillRect/>
          </a:stretch>
        </p:blipFill>
        <p:spPr>
          <a:xfrm>
            <a:off x="3111500" y="380892"/>
            <a:ext cx="2590800" cy="1495533"/>
          </a:xfrm>
          <a:prstGeom prst="rect">
            <a:avLst/>
          </a:prstGeom>
        </p:spPr>
      </p:pic>
      <p:pic>
        <p:nvPicPr>
          <p:cNvPr id="16" name="Picture 6" descr="Drawing4 (9)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40100" y="1876425"/>
            <a:ext cx="2133600" cy="1457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109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900" y="504825"/>
            <a:ext cx="1828800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Regression</a:t>
            </a:r>
            <a:endParaRPr lang="en-US" dirty="0"/>
          </a:p>
        </p:txBody>
      </p:sp>
      <p:pic>
        <p:nvPicPr>
          <p:cNvPr id="17" name="Content Placeholder 4" descr="WhatsApp Image 2024-10-08 at 07.36.58_52212fc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" y="809625"/>
            <a:ext cx="2959099" cy="2667000"/>
          </a:xfrm>
          <a:prstGeom prst="rect">
            <a:avLst/>
          </a:prstGeom>
        </p:spPr>
      </p:pic>
      <p:pic>
        <p:nvPicPr>
          <p:cNvPr id="18" name="Content Placeholder 9" descr="WhatsApp Image 2024-10-08 at 07.39.55_8799211f.jpg"/>
          <p:cNvPicPr>
            <a:picLocks noChangeAspect="1"/>
          </p:cNvPicPr>
          <p:nvPr/>
        </p:nvPicPr>
        <p:blipFill>
          <a:blip r:embed="rId4" cstate="print"/>
          <a:srcRect t="25000"/>
          <a:stretch>
            <a:fillRect/>
          </a:stretch>
        </p:blipFill>
        <p:spPr>
          <a:xfrm>
            <a:off x="2903324" y="1800225"/>
            <a:ext cx="2862476" cy="1600200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5402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Unsupervised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9" name="object 7"/>
          <p:cNvSpPr txBox="1"/>
          <p:nvPr/>
        </p:nvSpPr>
        <p:spPr>
          <a:xfrm>
            <a:off x="292100" y="428625"/>
            <a:ext cx="5228590" cy="35682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ja-JP" dirty="0" smtClean="0">
                <a:solidFill>
                  <a:srgbClr val="FF0000"/>
                </a:solidFill>
                <a:ea typeface="MS PGothic" pitchFamily="34" charset="-128"/>
              </a:rPr>
              <a:t>Unsupervised learning</a:t>
            </a:r>
            <a:r>
              <a:rPr lang="en-US" altLang="ja-JP" dirty="0" smtClean="0">
                <a:ea typeface="MS PGothic" pitchFamily="34" charset="-128"/>
              </a:rPr>
              <a:t>: The data have no target attribute. </a:t>
            </a:r>
          </a:p>
          <a:p>
            <a:pPr>
              <a:buFont typeface="Arial" pitchFamily="34" charset="0"/>
              <a:buChar char="•"/>
            </a:pPr>
            <a:endParaRPr lang="en-US" altLang="ja-JP" dirty="0" smtClean="0">
              <a:ea typeface="MS PGothic" pitchFamily="34" charset="-128"/>
            </a:endParaRPr>
          </a:p>
          <a:p>
            <a:pPr lvl="1">
              <a:buFont typeface="Arial" pitchFamily="34" charset="0"/>
              <a:buChar char="•"/>
            </a:pPr>
            <a:r>
              <a:rPr lang="en-US" altLang="ja-JP" dirty="0" smtClean="0">
                <a:ea typeface="MS PGothic" pitchFamily="34" charset="-128"/>
              </a:rPr>
              <a:t>We want to explore the data to find some intrinsic structures in them. </a:t>
            </a:r>
            <a:endParaRPr lang="en-US" dirty="0" smtClean="0"/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2900" y="1724025"/>
            <a:ext cx="1720603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5402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Unsupervised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9" name="object 7"/>
          <p:cNvSpPr txBox="1"/>
          <p:nvPr/>
        </p:nvSpPr>
        <p:spPr>
          <a:xfrm>
            <a:off x="292100" y="428625"/>
            <a:ext cx="5228590" cy="35682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ja-JP" dirty="0" smtClean="0">
                <a:solidFill>
                  <a:srgbClr val="FF0000"/>
                </a:solidFill>
                <a:ea typeface="MS PGothic" pitchFamily="34" charset="-128"/>
              </a:rPr>
              <a:t>Unsupervised learning</a:t>
            </a:r>
            <a:r>
              <a:rPr lang="en-US" altLang="ja-JP" dirty="0" smtClean="0">
                <a:ea typeface="MS PGothic" pitchFamily="34" charset="-128"/>
              </a:rPr>
              <a:t>: The data have no target attribute. </a:t>
            </a:r>
          </a:p>
          <a:p>
            <a:pPr>
              <a:buFont typeface="Arial" pitchFamily="34" charset="0"/>
              <a:buChar char="•"/>
            </a:pPr>
            <a:endParaRPr lang="en-US" altLang="ja-JP" dirty="0" smtClean="0">
              <a:ea typeface="MS PGothic" pitchFamily="34" charset="-128"/>
            </a:endParaRPr>
          </a:p>
          <a:p>
            <a:pPr lvl="1">
              <a:buFont typeface="Arial" pitchFamily="34" charset="0"/>
              <a:buChar char="•"/>
            </a:pPr>
            <a:r>
              <a:rPr lang="en-US" altLang="ja-JP" dirty="0" smtClean="0">
                <a:ea typeface="MS PGothic" pitchFamily="34" charset="-128"/>
              </a:rPr>
              <a:t>We want to explore the data to find some intrinsic structures in them. </a:t>
            </a:r>
            <a:endParaRPr lang="en-US" dirty="0" smtClean="0"/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2900" y="1724025"/>
            <a:ext cx="1720603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13" descr="1_UIqGUEZ_v0xzmF0OzHHoEQ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11300" y="1952625"/>
            <a:ext cx="1295400" cy="1295400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5402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5" dirty="0" smtClean="0"/>
              <a:t>Types of Machine Learning: Unsupervised Learning</a:t>
            </a:r>
            <a:endParaRPr spc="-35" dirty="0"/>
          </a:p>
        </p:txBody>
      </p:sp>
      <p:grpSp>
        <p:nvGrpSpPr>
          <p:cNvPr id="3" name="object 7"/>
          <p:cNvGrpSpPr/>
          <p:nvPr/>
        </p:nvGrpSpPr>
        <p:grpSpPr>
          <a:xfrm>
            <a:off x="0" y="3490353"/>
            <a:ext cx="5760085" cy="109855"/>
            <a:chOff x="0" y="3490353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5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5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490353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4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B2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45643" y="3495789"/>
            <a:ext cx="140208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smtClean="0"/>
              <a:t>Machine Learning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118601" y="3495789"/>
            <a:ext cx="152336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6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spc="75" dirty="0" smtClean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600" dirty="0" smtClean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lang="en-US" sz="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600" dirty="0" smtClean="0">
                <a:solidFill>
                  <a:srgbClr val="FFFFFF"/>
                </a:solidFill>
                <a:latin typeface="Tahoma"/>
                <a:cs typeface="Tahoma"/>
              </a:rPr>
              <a:t>Introduction to Machine Learning 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pPr marL="38100">
                <a:lnSpc>
                  <a:spcPts val="675"/>
                </a:lnSpc>
              </a:pPr>
              <a:t>28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24</a:t>
            </a:r>
          </a:p>
        </p:txBody>
      </p:sp>
      <p:sp>
        <p:nvSpPr>
          <p:cNvPr id="19" name="object 7"/>
          <p:cNvSpPr txBox="1"/>
          <p:nvPr/>
        </p:nvSpPr>
        <p:spPr>
          <a:xfrm>
            <a:off x="292100" y="428625"/>
            <a:ext cx="5228590" cy="3537507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ja-JP" sz="1600" dirty="0" smtClean="0">
                <a:solidFill>
                  <a:srgbClr val="FF0000"/>
                </a:solidFill>
                <a:ea typeface="MS PGothic" pitchFamily="34" charset="-128"/>
              </a:rPr>
              <a:t>Unsupervised learning</a:t>
            </a:r>
            <a:r>
              <a:rPr lang="en-US" altLang="ja-JP" sz="1600" dirty="0" smtClean="0">
                <a:ea typeface="MS PGothic" pitchFamily="34" charset="-128"/>
              </a:rPr>
              <a:t>: The data have no target attribute. </a:t>
            </a:r>
          </a:p>
          <a:p>
            <a:pPr>
              <a:buFont typeface="Arial" pitchFamily="34" charset="0"/>
              <a:buChar char="•"/>
            </a:pPr>
            <a:endParaRPr lang="en-US" altLang="ja-JP" sz="1600" dirty="0" smtClean="0">
              <a:ea typeface="MS PGothic" pitchFamily="34" charset="-128"/>
            </a:endParaRPr>
          </a:p>
          <a:p>
            <a:pPr lvl="1">
              <a:buFont typeface="Arial" pitchFamily="34" charset="0"/>
              <a:buChar char="•"/>
            </a:pPr>
            <a:r>
              <a:rPr lang="en-US" altLang="ja-JP" sz="1600" dirty="0" smtClean="0">
                <a:ea typeface="MS PGothic" pitchFamily="34" charset="-128"/>
              </a:rPr>
              <a:t>We want to explore the data to find some intrinsic structures in them.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hlinkClick r:id="rId3"/>
              </a:rPr>
              <a:t>https://ml-playground.com/#</a:t>
            </a:r>
            <a:r>
              <a:rPr lang="en-US" sz="1600" dirty="0" smtClean="0"/>
              <a:t> </a:t>
            </a:r>
          </a:p>
          <a:p>
            <a:endParaRPr lang="en-US" sz="1000" dirty="0" smtClean="0"/>
          </a:p>
          <a:p>
            <a:pPr>
              <a:buFont typeface="Arial" pitchFamily="34" charset="0"/>
              <a:buChar char="•"/>
            </a:pPr>
            <a:endParaRPr lang="en-US" sz="1000" dirty="0"/>
          </a:p>
          <a:p>
            <a:pPr>
              <a:buFont typeface="Arial" pitchFamily="34" charset="0"/>
              <a:buChar char="•"/>
            </a:pPr>
            <a:endParaRPr lang="en-US" sz="1000" dirty="0" smtClean="0"/>
          </a:p>
          <a:p>
            <a:pPr marL="12700">
              <a:lnSpc>
                <a:spcPct val="100000"/>
              </a:lnSpc>
              <a:spcBef>
                <a:spcPts val="725"/>
              </a:spcBef>
              <a:buFont typeface="Arial" pitchFamily="34" charset="0"/>
              <a:buChar char="•"/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lang="en-US" sz="1000" dirty="0" smtClean="0"/>
          </a:p>
          <a:p>
            <a:pPr marL="289560">
              <a:lnSpc>
                <a:spcPct val="100000"/>
              </a:lnSpc>
              <a:spcBef>
                <a:spcPts val="570"/>
              </a:spcBef>
            </a:pPr>
            <a:endParaRPr sz="1000" dirty="0">
              <a:latin typeface="Tahoma"/>
              <a:cs typeface="Tahoma"/>
            </a:endParaRP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45197" y="1647825"/>
            <a:ext cx="1720603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13" descr="1_UIqGUEZ_v0xzmF0OzHHoEQ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59100" y="2105025"/>
            <a:ext cx="1295400" cy="1295400"/>
          </a:xfrm>
          <a:prstGeom prst="rect">
            <a:avLst/>
          </a:prstGeom>
        </p:spPr>
      </p:pic>
      <p:pic>
        <p:nvPicPr>
          <p:cNvPr id="15" name="Picture 14" descr="images (1).jfi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8300" y="2105024"/>
            <a:ext cx="1741692" cy="1162189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</TotalTime>
  <Words>989</Words>
  <Application>Microsoft Office PowerPoint</Application>
  <PresentationFormat>Custom</PresentationFormat>
  <Paragraphs>270</Paragraphs>
  <Slides>28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Slide 1</vt:lpstr>
      <vt:lpstr>Course Information</vt:lpstr>
      <vt:lpstr>Course Objective</vt:lpstr>
      <vt:lpstr>Course Flow</vt:lpstr>
      <vt:lpstr>References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Introduction: Demonstration </vt:lpstr>
      <vt:lpstr>Types of Machine Learning</vt:lpstr>
      <vt:lpstr>Types of Machine Learning: Supervised Learning</vt:lpstr>
      <vt:lpstr>Types of Machine Learning: Supervised Learning</vt:lpstr>
      <vt:lpstr>Types of Machine Learning: Supervised Learning</vt:lpstr>
      <vt:lpstr>Types of Machine Learning: Supervised Learning</vt:lpstr>
      <vt:lpstr>Types of Machine Learning: Supervised Learning</vt:lpstr>
      <vt:lpstr>Types of Machine Learning: Supervised Learning</vt:lpstr>
      <vt:lpstr>Types of Machine Learning: Supervised Learning</vt:lpstr>
      <vt:lpstr>Types of Machine Learning: Supervised Learning</vt:lpstr>
      <vt:lpstr>Types of Machine Learning: Unsupervised Learning</vt:lpstr>
      <vt:lpstr>Types of Machine Learning: Unsupervised Learning</vt:lpstr>
      <vt:lpstr>Types of Machine Learning: Unsupervised Learning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:N-D Optimization-Gradient descent - CS307 Optimization Algorithms and Techniques</dc:title>
  <dc:creator>Chandresh Kumar Maurya  Assistant Professor in the CSE department</dc:creator>
  <cp:lastModifiedBy>raj kumar</cp:lastModifiedBy>
  <cp:revision>69</cp:revision>
  <dcterms:created xsi:type="dcterms:W3CDTF">2026-07-23T16:58:53Z</dcterms:created>
  <dcterms:modified xsi:type="dcterms:W3CDTF">2026-08-06T09:20:59Z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2026-06-30T00:00:00Z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2026-07-23T00:00:00Z</vt:filetime>
  </property>
  <property fmtid="{D5CDD505-2E9C-101B-9397-08002B2CF9AE}" pid="6" name="PTEX.Fullbanner">
    <vt:lpwstr>This is pdfTeX, Version 3.141592653-2.6-1.40.23 (TeX Live 2021) kpathsea version 6.3.3</vt:lpwstr>
  </property>
  <property fmtid="{D5CDD505-2E9C-101B-9397-08002B2CF9AE}" pid="7" name="Producer">
    <vt:lpwstr>pdfTeX-1.40.23</vt:lpwstr>
  </property>
</Properties>
</file>